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Good+Closed Rate (%)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15.09</c:v>
                </c:pt>
                <c:pt idx="1">
                  <c:v>11.8</c:v>
                </c:pt>
                <c:pt idx="2">
                  <c:v>13.6</c:v>
                </c:pt>
                <c:pt idx="3">
                  <c:v>12.9</c:v>
                </c:pt>
                <c:pt idx="4">
                  <c:v>11.4</c:v>
                </c:pt>
                <c:pt idx="5">
                  <c:v>16.86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Good+Closed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Partner Performance (Quality Score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Partner Quality Score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AdKnowledge</c:v>
                  </c:pt>
                  <c:pt idx="1">
                    <c:v>Bing Ads</c:v>
                  </c:pt>
                  <c:pt idx="2">
                    <c:v>Yahoo</c:v>
                  </c:pt>
                  <c:pt idx="3">
                    <c:v>google</c:v>
                  </c:pt>
                  <c:pt idx="4">
                    <c:v>Google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30.99</c:v>
                </c:pt>
                <c:pt idx="1">
                  <c:v>24.1</c:v>
                </c:pt>
                <c:pt idx="2">
                  <c:v>19.3</c:v>
                </c:pt>
                <c:pt idx="3">
                  <c:v>15.2</c:v>
                </c:pt>
                <c:pt idx="4">
                  <c:v>11.17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Debt Level Performance (Quality Score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 Level Quality Score (%)</c:v>
                </c:pt>
              </c:strCache>
            </c:strRef>
          </c:tx>
          <c:spPr>
            <a:solidFill>
              <a:srgbClr val="E08E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$70-90k</c:v>
                  </c:pt>
                  <c:pt idx="1">
                    <c:v>$10-15k</c:v>
                  </c:pt>
                  <c:pt idx="2">
                    <c:v>$30-50k</c:v>
                  </c:pt>
                  <c:pt idx="3">
                    <c:v>$5-10k</c:v>
                  </c:pt>
                  <c:pt idx="4">
                    <c:v>$100k+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32.82</c:v>
                </c:pt>
                <c:pt idx="1">
                  <c:v>30.24</c:v>
                </c:pt>
                <c:pt idx="2">
                  <c:v>22.1</c:v>
                </c:pt>
                <c:pt idx="3">
                  <c:v>16.4</c:v>
                </c:pt>
                <c:pt idx="4">
                  <c:v>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Lead Rate (%)</c:v>
                </c:pt>
              </c:strCache>
            </c:strRef>
          </c:tx>
          <c:spPr>
            <a:solidFill>
              <a:srgbClr val="5A6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B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8C5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Remove Low
Widgets</c:v>
                  </c:pt>
                  <c:pt idx="2">
                    <c:v>Remove Low
Campaigns</c:v>
                  </c:pt>
                  <c:pt idx="3">
                    <c:v>Target Top
States</c:v>
                  </c:pt>
                  <c:pt idx="4">
                    <c:v>Min Data
Score</c:v>
                  </c:pt>
                  <c:pt idx="5">
                    <c:v>Combined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12.95</c:v>
                </c:pt>
                <c:pt idx="1">
                  <c:v>15.54</c:v>
                </c:pt>
                <c:pt idx="2">
                  <c:v>16.24</c:v>
                </c:pt>
                <c:pt idx="3">
                  <c:v>15.4</c:v>
                </c:pt>
                <c:pt idx="4">
                  <c:v>13.01</c:v>
                </c:pt>
                <c:pt idx="5">
                  <c:v>22.58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Good+Closed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QUALITY CASE STUDY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+20% CPL Increase Justified by Lead Quality?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Assessment  •  Single Publisher, Multi-Source Traffic, One Advertiser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window: April – September 2009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advertiser buys leads from a publisher across several traffic sources. This analysis determines whether lead quality justifies a proposed pricing increase.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</a:rPr>
              <a:t>THE PROPOSAL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Cost Per Lead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A6B8C"/>
                </a:solidFill>
              </a:rPr>
              <a:t>$30  </a:t>
            </a:r>
            <a:pPr indent="0" marL="0">
              <a:buNone/>
            </a:pPr>
            <a:r>
              <a:rPr lang="en-US" sz="2800" dirty="0">
                <a:solidFill>
                  <a:srgbClr val="5A6B8C"/>
                </a:solidFill>
              </a:rPr>
              <a:t>→  </a:t>
            </a:r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</a:rPr>
              <a:t>$33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</a:rPr>
              <a:t>  (+20%)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Lead Quality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A6B8C"/>
                </a:solidFill>
              </a:rPr>
              <a:t>8.0%  </a:t>
            </a:r>
            <a:pPr indent="0" marL="0">
              <a:buNone/>
            </a:pPr>
            <a:r>
              <a:rPr lang="en-US" sz="2800" dirty="0">
                <a:solidFill>
                  <a:srgbClr val="5A6B8C"/>
                </a:solidFill>
              </a:rPr>
              <a:t>→  </a:t>
            </a:r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</a:rPr>
              <a:t>9.6%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</a:rPr>
              <a:t>  (+20%)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" y="51206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</a:rPr>
              <a:t>Advertiser's historical reference figures, as stated in the assignment brief.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8288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</a:rPr>
              <a:t>THREE QUESTIONS TO ANSWER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60604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2560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lead quality trending — and is it statistically significant?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3611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segments (creative, partner, debt level) drive quality?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70916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46634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filtering realistically deliver a +20% quality lift?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35788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35788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Clean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on VendorLeadID, parse dates, fill non-critical nulls, drop PII columns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55448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EDEFF8"/>
          </a:solidFill>
          <a:ln/>
        </p:spPr>
      </p:sp>
      <p:sp>
        <p:nvSpPr>
          <p:cNvPr id="9" name="Shape 7"/>
          <p:cNvSpPr/>
          <p:nvPr/>
        </p:nvSpPr>
        <p:spPr>
          <a:xfrm>
            <a:off x="359816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9816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25146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Correct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3512" y="29260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CallStatus text-matching bug that hid 297 Bad leads inside "Unknown"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55448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83844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83844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5146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Engineer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93792" y="29260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QualityGroup (Closed/Good/Bad/Unknown), GoodLeadFlag, Month, Quarter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155448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EDEF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7872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7872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60920" y="25146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34072" y="29260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for trend; chi-square tests (α=0.05) for every categorical driver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09760" y="155448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1900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031900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0" y="25146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Simulate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74352" y="292608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filtering scenarios benchmarked against the +20% quality target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FF6EC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53328"/>
            <a:ext cx="411480" cy="4114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34440" y="5989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finding: a naive status-text match silently dropped 297 Bad leads into "Unknown" — corrected before any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— Is Lead Quality Trending?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7406640" y="118872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</p:spPr>
      </p:sp>
      <p:sp>
        <p:nvSpPr>
          <p:cNvPr id="6" name="Text 2"/>
          <p:cNvSpPr/>
          <p:nvPr/>
        </p:nvSpPr>
        <p:spPr>
          <a:xfrm>
            <a:off x="7589520" y="126187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+0.45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9509760" y="126187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/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406640" y="242316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</p:spPr>
      </p:sp>
      <p:sp>
        <p:nvSpPr>
          <p:cNvPr id="9" name="Text 5"/>
          <p:cNvSpPr/>
          <p:nvPr/>
        </p:nvSpPr>
        <p:spPr>
          <a:xfrm>
            <a:off x="7589520" y="249631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</a:rPr>
              <a:t>p = 0.587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9509760" y="249631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α = 0.05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406640" y="365760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</p:spPr>
      </p:sp>
      <p:sp>
        <p:nvSpPr>
          <p:cNvPr id="12" name="Text 8"/>
          <p:cNvSpPr/>
          <p:nvPr/>
        </p:nvSpPr>
        <p:spPr>
          <a:xfrm>
            <a:off x="7589520" y="373075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</a:rPr>
              <a:t>R² = 0.08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509760" y="373075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406640" y="493776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763524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</a:rPr>
              <a:t>VERDICT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635240" y="534924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— not statistically significant. Month-to-month swings look like noise around a stable mean.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— What Drives Lead Quality?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tests of independence (α = 0.05) across all candidate segment variables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00800" cy="475488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 / Creative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Domain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 Campaign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Advertiser Campaign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269480" y="1554480"/>
            <a:ext cx="4343400" cy="4754880"/>
          </a:xfrm>
          <a:prstGeom prst="roundRect">
            <a:avLst>
              <a:gd name="adj" fmla="val 1684"/>
            </a:avLst>
          </a:prstGeom>
          <a:solidFill>
            <a:srgbClr val="F4F6FB"/>
          </a:solidFill>
          <a:ln/>
        </p:spPr>
      </p:sp>
      <p:sp>
        <p:nvSpPr>
          <p:cNvPr id="7" name="Text 3"/>
          <p:cNvSpPr/>
          <p:nvPr/>
        </p:nvSpPr>
        <p:spPr>
          <a:xfrm>
            <a:off x="754380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</a:rPr>
              <a:t>BUSINESS READ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43800" y="2194560"/>
            <a:ext cx="3840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quality is driven by: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creative/widget is shown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traffic partner sourced the click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debt profile of the person
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campaign-level fields show visible spread, but it isn't reliably distinguishable from chance at current sample sizes.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 vs. Losing Segments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= Good % + Closed % within each segment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55448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1206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521208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widget: </a:t>
            </a:r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w-300250-DebtReduction1-1DC-CreditSolutions (36.84%) 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Weakest: </a:t>
            </a:r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...-Head3 (12.0%)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"google" vs "Google" are inconsistently-cased partner tags — worth a tagging cleanup, but the quality gap is real either way.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— Can We Hit the +20% Target?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Good+Closed rate: 12.95%   →   +20% target: 15.54%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target line = 15.54% (+20% goal)  |  Scenario 1 alone clears the target; the combined approach (smaller volume) reaches 22.58%.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2730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26517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quality is flat over 6 months (p=0.587) — no measurable improvement or decline.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43400" y="13716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27306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617720" y="26517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Widget/creative, Partner, and Debt Level are statistically significant quality drivers.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138160" y="13716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2730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45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412480" y="26517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quality lift (15.54%) is achievable, mainly via widget optimization and state targeting.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526280"/>
            <a:ext cx="11064240" cy="1417320"/>
          </a:xfrm>
          <a:prstGeom prst="rect">
            <a:avLst/>
          </a:prstGeom>
          <a:solidFill>
            <a:srgbClr val="151C4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006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572000"/>
            <a:ext cx="10058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leads carry an "Unknown" outcome. Any optimization built on the known 29% should be revisited as call-center resolution improves.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6916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2C8C5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691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QUICK WINS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</a:rPr>
              <a:t>High Impact, Low Effort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3063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spend away from bottom-half widgets toward top performers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call-center workflow so every lead resolves to a real status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6916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1691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MEDIUM-TERM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772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</a:rPr>
              <a:t>Medium Impact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17720" y="2606040"/>
            <a:ext cx="3063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toward AdKnowledge; reduce weak "Google" paid traffic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google/Google tagging inconsistency with ad ops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lightweight state-tier targeting rule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3816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/>
        </p:spPr>
      </p:sp>
      <p:sp>
        <p:nvSpPr>
          <p:cNvPr id="15" name="Shape 12"/>
          <p:cNvSpPr/>
          <p:nvPr/>
        </p:nvSpPr>
        <p:spPr>
          <a:xfrm>
            <a:off x="8412480" y="16916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0" y="1691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LONG-TERM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1248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</a:rPr>
              <a:t>Strategic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2606040"/>
            <a:ext cx="3063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the +20% CPL backed by combined-scenario evidence (up to 22.58% achievable quality)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71% Unknown bucket before fully committing to optimization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statistical detail, code, and additional segment breakdowns (Referral Domain, Keyword, AdGroup) are available in the accompanying analysis notebook.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Quality Case Study</dc:title>
  <dc:subject>PptxGenJS Presentation</dc:subject>
  <dc:creator>Data Analyst</dc:creator>
  <cp:lastModifiedBy>Data Analyst</cp:lastModifiedBy>
  <cp:revision>1</cp:revision>
  <dcterms:created xsi:type="dcterms:W3CDTF">2026-06-21T16:39:43Z</dcterms:created>
  <dcterms:modified xsi:type="dcterms:W3CDTF">2026-06-21T16:39:43Z</dcterms:modified>
</cp:coreProperties>
</file>